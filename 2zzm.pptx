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84048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F46F7B"/>
          </a:solidFill>
          <a:ln w="12700">
            <a:solidFill>
              <a:srgbClr val="F46F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43484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5분 발표 + 앱 시연 연결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243B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627632" y="832104"/>
            <a:ext cx="137160" cy="137160"/>
          </a:xfrm>
          <a:prstGeom prst="ellipse">
            <a:avLst/>
          </a:prstGeom>
          <a:solidFill>
            <a:srgbClr val="F46F7B"/>
          </a:solidFill>
          <a:ln w="12700">
            <a:solidFill>
              <a:srgbClr val="F46F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85953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43B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분위기로 찾는 모임 장소 추천 서비스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57400" y="122529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“어디서 모일지 고민된다면, 이쯤입니다.”</a:t>
            </a:r>
            <a:endParaRPr lang="en-US" sz="1280" dirty="0"/>
          </a:p>
        </p:txBody>
      </p:sp>
      <p:pic>
        <p:nvPicPr>
          <p:cNvPr id="9" name="Image 0" descr="/mnt/data/square_rounded_corner_app_icon_style_illust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0" y="384048"/>
            <a:ext cx="1325880" cy="1325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52360" y="4572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43B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Brand Colors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52360" y="786384"/>
            <a:ext cx="292608" cy="292608"/>
          </a:xfrm>
          <a:prstGeom prst="ellipse">
            <a:avLst/>
          </a:prstGeom>
          <a:solidFill>
            <a:srgbClr val="243B55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97496" y="113385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#243B55</a:t>
            </a:r>
            <a:endParaRPr lang="en-US" sz="580" dirty="0"/>
          </a:p>
        </p:txBody>
      </p:sp>
      <p:sp>
        <p:nvSpPr>
          <p:cNvPr id="13" name="Text 10"/>
          <p:cNvSpPr/>
          <p:nvPr/>
        </p:nvSpPr>
        <p:spPr>
          <a:xfrm>
            <a:off x="7397496" y="1261872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신뢰/AI</a:t>
            </a:r>
            <a:endParaRPr lang="en-US" sz="580" dirty="0"/>
          </a:p>
        </p:txBody>
      </p:sp>
      <p:sp>
        <p:nvSpPr>
          <p:cNvPr id="14" name="Shape 11"/>
          <p:cNvSpPr/>
          <p:nvPr/>
        </p:nvSpPr>
        <p:spPr>
          <a:xfrm>
            <a:off x="8028432" y="786384"/>
            <a:ext cx="292608" cy="292608"/>
          </a:xfrm>
          <a:prstGeom prst="ellipse">
            <a:avLst/>
          </a:prstGeom>
          <a:solidFill>
            <a:srgbClr val="F46F7B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73568" y="113385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#F46F7B</a:t>
            </a:r>
            <a:endParaRPr lang="en-US" sz="580" dirty="0"/>
          </a:p>
        </p:txBody>
      </p:sp>
      <p:sp>
        <p:nvSpPr>
          <p:cNvPr id="16" name="Text 13"/>
          <p:cNvSpPr/>
          <p:nvPr/>
        </p:nvSpPr>
        <p:spPr>
          <a:xfrm>
            <a:off x="7973568" y="1261872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감성/식욕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8604504" y="786384"/>
            <a:ext cx="292608" cy="292608"/>
          </a:xfrm>
          <a:prstGeom prst="ellipse">
            <a:avLst/>
          </a:prstGeom>
          <a:solidFill>
            <a:srgbClr val="FFF3ED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113385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#FFF3ED</a:t>
            </a:r>
            <a:endParaRPr lang="en-US" sz="580" dirty="0"/>
          </a:p>
        </p:txBody>
      </p:sp>
      <p:sp>
        <p:nvSpPr>
          <p:cNvPr id="19" name="Text 16"/>
          <p:cNvSpPr/>
          <p:nvPr/>
        </p:nvSpPr>
        <p:spPr>
          <a:xfrm>
            <a:off x="8549640" y="1261872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배경</a:t>
            </a:r>
            <a:endParaRPr lang="en-US" sz="580" dirty="0"/>
          </a:p>
        </p:txBody>
      </p:sp>
      <p:sp>
        <p:nvSpPr>
          <p:cNvPr id="20" name="Shape 17"/>
          <p:cNvSpPr/>
          <p:nvPr/>
        </p:nvSpPr>
        <p:spPr>
          <a:xfrm>
            <a:off x="9180576" y="786384"/>
            <a:ext cx="292608" cy="29260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25712" y="113385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#F2C14E</a:t>
            </a:r>
            <a:endParaRPr lang="en-US" sz="580" dirty="0"/>
          </a:p>
        </p:txBody>
      </p:sp>
      <p:sp>
        <p:nvSpPr>
          <p:cNvPr id="22" name="Text 19"/>
          <p:cNvSpPr/>
          <p:nvPr/>
        </p:nvSpPr>
        <p:spPr>
          <a:xfrm>
            <a:off x="9125712" y="1261872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강조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566928" y="1847088"/>
            <a:ext cx="361188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EBDAD6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6C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86384" y="2048256"/>
            <a:ext cx="676656" cy="310896"/>
          </a:xfrm>
          <a:prstGeom prst="roundRect">
            <a:avLst>
              <a:gd name="adj" fmla="val 29412"/>
            </a:avLst>
          </a:prstGeom>
          <a:solidFill>
            <a:srgbClr val="243B55"/>
          </a:solidFill>
          <a:ln w="12700">
            <a:solidFill>
              <a:srgbClr val="243B55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" y="2107692"/>
            <a:ext cx="6766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WHY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1554480" y="20619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243B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기획 의도 / 배경</a:t>
            </a:r>
            <a:endParaRPr lang="en-US" sz="1520" dirty="0"/>
          </a:p>
        </p:txBody>
      </p:sp>
      <p:sp>
        <p:nvSpPr>
          <p:cNvPr id="27" name="Shape 24"/>
          <p:cNvSpPr/>
          <p:nvPr/>
        </p:nvSpPr>
        <p:spPr>
          <a:xfrm>
            <a:off x="822960" y="2599639"/>
            <a:ext cx="64008" cy="64008"/>
          </a:xfrm>
          <a:prstGeom prst="ellipse">
            <a:avLst/>
          </a:prstGeom>
          <a:solidFill>
            <a:srgbClr val="F46F7B"/>
          </a:solidFill>
          <a:ln w="12700">
            <a:solidFill>
              <a:srgbClr val="F46F7B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9264" y="2532888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별점만으로는 조용함·시끌벅적함·단체석 같은 분위기를 알기 어려움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822960" y="3001975"/>
            <a:ext cx="64008" cy="64008"/>
          </a:xfrm>
          <a:prstGeom prst="ellipse">
            <a:avLst/>
          </a:prstGeom>
          <a:solidFill>
            <a:srgbClr val="F46F7B"/>
          </a:solidFill>
          <a:ln w="12700">
            <a:solidFill>
              <a:srgbClr val="F46F7B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9264" y="2935224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서로 다른 지역에서 모일 때 중간 지점을 정하는 과정이 번거로움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822960" y="3404311"/>
            <a:ext cx="64008" cy="64008"/>
          </a:xfrm>
          <a:prstGeom prst="ellipse">
            <a:avLst/>
          </a:prstGeom>
          <a:solidFill>
            <a:srgbClr val="F46F7B"/>
          </a:solidFill>
          <a:ln w="12700">
            <a:solidFill>
              <a:srgbClr val="F46F7B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9264" y="333756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번개·회식처럼 빠른 결정이 필요한 순간, 장소 선정 시간이 길어짐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297680" y="1847088"/>
            <a:ext cx="3493008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EBDAD6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6C0">
                <a:alpha val="1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517136" y="2048256"/>
            <a:ext cx="676656" cy="310896"/>
          </a:xfrm>
          <a:prstGeom prst="roundRect">
            <a:avLst>
              <a:gd name="adj" fmla="val 29412"/>
            </a:avLst>
          </a:prstGeom>
          <a:solidFill>
            <a:srgbClr val="243B55"/>
          </a:solidFill>
          <a:ln w="12700">
            <a:solidFill>
              <a:srgbClr val="243B55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17136" y="2107692"/>
            <a:ext cx="6766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WHO</a:t>
            </a:r>
            <a:endParaRPr lang="en-US" sz="920" dirty="0"/>
          </a:p>
        </p:txBody>
      </p:sp>
      <p:sp>
        <p:nvSpPr>
          <p:cNvPr id="36" name="Text 33"/>
          <p:cNvSpPr/>
          <p:nvPr/>
        </p:nvSpPr>
        <p:spPr>
          <a:xfrm>
            <a:off x="5285232" y="206197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243B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페르소나</a:t>
            </a:r>
            <a:endParaRPr lang="en-US" sz="1520" dirty="0"/>
          </a:p>
        </p:txBody>
      </p:sp>
      <p:sp>
        <p:nvSpPr>
          <p:cNvPr id="37" name="Shape 34"/>
          <p:cNvSpPr/>
          <p:nvPr/>
        </p:nvSpPr>
        <p:spPr>
          <a:xfrm>
            <a:off x="4553712" y="2599639"/>
            <a:ext cx="64008" cy="64008"/>
          </a:xfrm>
          <a:prstGeom prst="ellipse">
            <a:avLst/>
          </a:prstGeom>
          <a:solidFill>
            <a:srgbClr val="F46F7B"/>
          </a:solidFill>
          <a:ln w="12700">
            <a:solidFill>
              <a:srgbClr val="F46F7B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00016" y="253288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번개족 직장인: 오늘 바로 갈 수 있는, 컨셉에 맞는 맛집이 필요함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4553712" y="3001975"/>
            <a:ext cx="64008" cy="64008"/>
          </a:xfrm>
          <a:prstGeom prst="ellipse">
            <a:avLst/>
          </a:prstGeom>
          <a:solidFill>
            <a:srgbClr val="F46F7B"/>
          </a:solidFill>
          <a:ln w="12700">
            <a:solidFill>
              <a:srgbClr val="F46F7B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00016" y="293522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회식 총무: 팀원들이 오기 쉬운 위치와 회식 분위기를 동시에 고려해야 함</a:t>
            </a:r>
            <a:endParaRPr lang="en-US" sz="1020" dirty="0"/>
          </a:p>
        </p:txBody>
      </p:sp>
      <p:sp>
        <p:nvSpPr>
          <p:cNvPr id="41" name="Shape 38"/>
          <p:cNvSpPr/>
          <p:nvPr/>
        </p:nvSpPr>
        <p:spPr>
          <a:xfrm>
            <a:off x="4553712" y="3404311"/>
            <a:ext cx="64008" cy="64008"/>
          </a:xfrm>
          <a:prstGeom prst="ellipse">
            <a:avLst/>
          </a:prstGeom>
          <a:solidFill>
            <a:srgbClr val="F46F7B"/>
          </a:solidFill>
          <a:ln w="12700">
            <a:solidFill>
              <a:srgbClr val="F46F7B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00016" y="333756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니즈: 빠르게 찾고, 이유가 납득되고, 바로 전화/예약까지 이어져야 함</a:t>
            </a:r>
            <a:endParaRPr lang="en-US" sz="1020" dirty="0"/>
          </a:p>
        </p:txBody>
      </p:sp>
      <p:sp>
        <p:nvSpPr>
          <p:cNvPr id="43" name="Shape 40"/>
          <p:cNvSpPr/>
          <p:nvPr/>
        </p:nvSpPr>
        <p:spPr>
          <a:xfrm>
            <a:off x="7909560" y="1847088"/>
            <a:ext cx="370332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EBDAD6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6C0">
                <a:alpha val="16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129016" y="2048256"/>
            <a:ext cx="676656" cy="310896"/>
          </a:xfrm>
          <a:prstGeom prst="roundRect">
            <a:avLst>
              <a:gd name="adj" fmla="val 29412"/>
            </a:avLst>
          </a:prstGeom>
          <a:solidFill>
            <a:srgbClr val="243B55"/>
          </a:solidFill>
          <a:ln w="12700">
            <a:solidFill>
              <a:srgbClr val="243B55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129016" y="2107692"/>
            <a:ext cx="6766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WHAT</a:t>
            </a:r>
            <a:endParaRPr lang="en-US" sz="920" dirty="0"/>
          </a:p>
        </p:txBody>
      </p:sp>
      <p:sp>
        <p:nvSpPr>
          <p:cNvPr id="46" name="Text 43"/>
          <p:cNvSpPr/>
          <p:nvPr/>
        </p:nvSpPr>
        <p:spPr>
          <a:xfrm>
            <a:off x="8897112" y="20619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243B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내용 / MVP</a:t>
            </a:r>
            <a:endParaRPr lang="en-US" sz="1520" dirty="0"/>
          </a:p>
        </p:txBody>
      </p:sp>
      <p:sp>
        <p:nvSpPr>
          <p:cNvPr id="47" name="Shape 44"/>
          <p:cNvSpPr/>
          <p:nvPr/>
        </p:nvSpPr>
        <p:spPr>
          <a:xfrm>
            <a:off x="8165592" y="2599639"/>
            <a:ext cx="64008" cy="64008"/>
          </a:xfrm>
          <a:prstGeom prst="ellipse">
            <a:avLst/>
          </a:prstGeom>
          <a:solidFill>
            <a:srgbClr val="F46F7B"/>
          </a:solidFill>
          <a:ln w="12700">
            <a:solidFill>
              <a:srgbClr val="F46F7B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311896" y="253288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컨셉·몇 차인지 선택으로 추천 의도 파악</a:t>
            </a:r>
            <a:endParaRPr lang="en-US" sz="1020" dirty="0"/>
          </a:p>
        </p:txBody>
      </p:sp>
      <p:sp>
        <p:nvSpPr>
          <p:cNvPr id="49" name="Shape 46"/>
          <p:cNvSpPr/>
          <p:nvPr/>
        </p:nvSpPr>
        <p:spPr>
          <a:xfrm>
            <a:off x="8165592" y="3001975"/>
            <a:ext cx="64008" cy="64008"/>
          </a:xfrm>
          <a:prstGeom prst="ellipse">
            <a:avLst/>
          </a:prstGeom>
          <a:solidFill>
            <a:srgbClr val="F46F7B"/>
          </a:solidFill>
          <a:ln w="12700">
            <a:solidFill>
              <a:srgbClr val="F46F7B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311896" y="2935224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분위기 태그 + 음식 종류/메뉴 태그를 함께 필터링</a:t>
            </a:r>
            <a:endParaRPr lang="en-US" sz="1020" dirty="0"/>
          </a:p>
        </p:txBody>
      </p:sp>
      <p:sp>
        <p:nvSpPr>
          <p:cNvPr id="51" name="Shape 48"/>
          <p:cNvSpPr/>
          <p:nvPr/>
        </p:nvSpPr>
        <p:spPr>
          <a:xfrm>
            <a:off x="8165592" y="3404311"/>
            <a:ext cx="64008" cy="64008"/>
          </a:xfrm>
          <a:prstGeom prst="ellipse">
            <a:avLst/>
          </a:prstGeom>
          <a:solidFill>
            <a:srgbClr val="F46F7B"/>
          </a:solidFill>
          <a:ln w="12700">
            <a:solidFill>
              <a:srgbClr val="F46F7B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311896" y="333756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지역 추천 또는 두 지역의 중간 지점 추천, 상세 카드까지 시연</a:t>
            </a:r>
            <a:endParaRPr lang="en-US" sz="1020" dirty="0"/>
          </a:p>
        </p:txBody>
      </p:sp>
      <p:sp>
        <p:nvSpPr>
          <p:cNvPr id="53" name="Shape 50"/>
          <p:cNvSpPr/>
          <p:nvPr/>
        </p:nvSpPr>
        <p:spPr>
          <a:xfrm>
            <a:off x="566928" y="4343400"/>
            <a:ext cx="11045952" cy="169164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BDAD6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6C0">
                <a:alpha val="14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868680" y="45079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43B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 시연 핵심 흐름</a:t>
            </a:r>
            <a:endParaRPr lang="en-US" sz="1300" dirty="0"/>
          </a:p>
        </p:txBody>
      </p:sp>
      <p:pic>
        <p:nvPicPr>
          <p:cNvPr id="55" name="Image 1" descr="/mnt/data/ijjeum_stage_icon_1.png">    </p:cNvPr>
          <p:cNvPicPr>
            <a:picLocks noChangeAspect="1"/>
          </p:cNvPicPr>
          <p:nvPr/>
        </p:nvPicPr>
        <p:blipFill>
          <a:blip r:embed="rId2"/>
          <a:srcRect l="0" r="0" t="8375" b="8375"/>
          <a:stretch/>
        </p:blipFill>
        <p:spPr>
          <a:xfrm>
            <a:off x="950976" y="4773168"/>
            <a:ext cx="658368" cy="786384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1755648" y="480060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43B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고민 시작</a:t>
            </a:r>
            <a:endParaRPr lang="en-US" sz="1250" dirty="0"/>
          </a:p>
        </p:txBody>
      </p:sp>
      <p:sp>
        <p:nvSpPr>
          <p:cNvPr id="57" name="Text 53"/>
          <p:cNvSpPr/>
          <p:nvPr/>
        </p:nvSpPr>
        <p:spPr>
          <a:xfrm>
            <a:off x="1755648" y="508406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“어디서 만나지?”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모임 컨셉과 차수를 선택</a:t>
            </a:r>
            <a:endParaRPr lang="en-US" sz="950" dirty="0"/>
          </a:p>
        </p:txBody>
      </p:sp>
      <p:sp>
        <p:nvSpPr>
          <p:cNvPr id="58" name="Shape 54"/>
          <p:cNvSpPr/>
          <p:nvPr/>
        </p:nvSpPr>
        <p:spPr>
          <a:xfrm>
            <a:off x="3566160" y="5148072"/>
            <a:ext cx="548640" cy="0"/>
          </a:xfrm>
          <a:prstGeom prst="line">
            <a:avLst/>
          </a:prstGeom>
          <a:noFill/>
          <a:ln w="25400">
            <a:solidFill>
              <a:srgbClr val="243B55"/>
            </a:solidFill>
            <a:prstDash val="solid"/>
            <a:headEnd type="none"/>
            <a:tailEnd type="triangle"/>
          </a:ln>
        </p:spPr>
      </p:sp>
      <p:pic>
        <p:nvPicPr>
          <p:cNvPr id="59" name="Image 2" descr="/mnt/data/ijjeum_stage_icon_2.png">    </p:cNvPr>
          <p:cNvPicPr>
            <a:picLocks noChangeAspect="1"/>
          </p:cNvPicPr>
          <p:nvPr/>
        </p:nvPicPr>
        <p:blipFill>
          <a:blip r:embed="rId3"/>
          <a:srcRect l="0" r="0" t="12449" b="12449"/>
          <a:stretch/>
        </p:blipFill>
        <p:spPr>
          <a:xfrm>
            <a:off x="4297680" y="4745736"/>
            <a:ext cx="768096" cy="841248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5230368" y="4800600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이쯤이 찾아줌</a:t>
            </a:r>
            <a:endParaRPr lang="en-US" sz="1250" dirty="0"/>
          </a:p>
        </p:txBody>
      </p:sp>
      <p:sp>
        <p:nvSpPr>
          <p:cNvPr id="61" name="Text 56"/>
          <p:cNvSpPr/>
          <p:nvPr/>
        </p:nvSpPr>
        <p:spPr>
          <a:xfrm>
            <a:off x="5230368" y="508406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리뷰 분위기와 지역 조건을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태그 기반으로 매칭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7114032" y="5148072"/>
            <a:ext cx="548640" cy="0"/>
          </a:xfrm>
          <a:prstGeom prst="line">
            <a:avLst/>
          </a:prstGeom>
          <a:noFill/>
          <a:ln w="25400">
            <a:solidFill>
              <a:srgbClr val="243B55"/>
            </a:solidFill>
            <a:prstDash val="solid"/>
            <a:headEnd type="none"/>
            <a:tailEnd type="triangle"/>
          </a:ln>
        </p:spPr>
      </p:sp>
      <p:pic>
        <p:nvPicPr>
          <p:cNvPr id="63" name="Image 3" descr="/mnt/data/ijjeum_stage_icon_3.png">    </p:cNvPr>
          <p:cNvPicPr>
            <a:picLocks noChangeAspect="1"/>
          </p:cNvPicPr>
          <p:nvPr/>
        </p:nvPicPr>
        <p:blipFill>
          <a:blip r:embed="rId4"/>
          <a:srcRect l="0" r="0" t="6566" b="6566"/>
          <a:stretch/>
        </p:blipFill>
        <p:spPr>
          <a:xfrm>
            <a:off x="7882128" y="4773168"/>
            <a:ext cx="658368" cy="786384"/>
          </a:xfrm>
          <a:prstGeom prst="rect">
            <a:avLst/>
          </a:prstGeom>
        </p:spPr>
      </p:pic>
      <p:sp>
        <p:nvSpPr>
          <p:cNvPr id="64" name="Text 58"/>
          <p:cNvSpPr/>
          <p:nvPr/>
        </p:nvSpPr>
        <p:spPr>
          <a:xfrm>
            <a:off x="8686800" y="480060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여기쯤 어때?</a:t>
            </a:r>
            <a:endParaRPr lang="en-US" sz="1250" dirty="0"/>
          </a:p>
        </p:txBody>
      </p:sp>
      <p:sp>
        <p:nvSpPr>
          <p:cNvPr id="65" name="Text 59"/>
          <p:cNvSpPr/>
          <p:nvPr/>
        </p:nvSpPr>
        <p:spPr>
          <a:xfrm>
            <a:off x="8686800" y="508406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모임에 딱 맞는 장소와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973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이유를 카드로 확인</a:t>
            </a:r>
            <a:endParaRPr lang="en-US" sz="950" dirty="0"/>
          </a:p>
        </p:txBody>
      </p:sp>
      <p:sp>
        <p:nvSpPr>
          <p:cNvPr id="66" name="Shape 60"/>
          <p:cNvSpPr/>
          <p:nvPr/>
        </p:nvSpPr>
        <p:spPr>
          <a:xfrm>
            <a:off x="10561320" y="4736592"/>
            <a:ext cx="704088" cy="704088"/>
          </a:xfrm>
          <a:prstGeom prst="roundRect">
            <a:avLst>
              <a:gd name="adj" fmla="val 15584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" dist="50800" dir="2700000">
              <a:srgbClr val="B7A8A3">
                <a:alpha val="20000"/>
              </a:srgbClr>
            </a:outerShdw>
          </a:effectLst>
        </p:spPr>
      </p:sp>
      <p:sp>
        <p:nvSpPr>
          <p:cNvPr id="67" name="Text 61"/>
          <p:cNvSpPr/>
          <p:nvPr/>
        </p:nvSpPr>
        <p:spPr>
          <a:xfrm>
            <a:off x="10561320" y="4937760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DEMO</a:t>
            </a:r>
            <a:endParaRPr lang="en-US" sz="950" dirty="0"/>
          </a:p>
        </p:txBody>
      </p:sp>
      <p:sp>
        <p:nvSpPr>
          <p:cNvPr id="68" name="Text 62"/>
          <p:cNvSpPr/>
          <p:nvPr/>
        </p:nvSpPr>
        <p:spPr>
          <a:xfrm>
            <a:off x="10314432" y="55595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43B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바로 앱 화면 시연</a:t>
            </a:r>
            <a:endParaRPr lang="en-US" sz="920" dirty="0"/>
          </a:p>
        </p:txBody>
      </p:sp>
      <p:sp>
        <p:nvSpPr>
          <p:cNvPr id="69" name="Shape 6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3B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566928" y="6583680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범위: 하드코딩 샘플 식당 데이터 15~20개 · 지역 4~5곳 · 컨셉/차수/분위기/음식 태그 추천 로직 시연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이쯤 프로젝트 한 장 요약</dc:title>
  <dc:subject>이쯤 프로젝트 한 장 발표 자료</dc:subject>
  <dc:creator>OpenAI</dc:creator>
  <cp:lastModifiedBy>OpenAI</cp:lastModifiedBy>
  <cp:revision>1</cp:revision>
  <dcterms:created xsi:type="dcterms:W3CDTF">2026-07-23T05:24:38Z</dcterms:created>
  <dcterms:modified xsi:type="dcterms:W3CDTF">2026-07-23T05:24:38Z</dcterms:modified>
</cp:coreProperties>
</file>